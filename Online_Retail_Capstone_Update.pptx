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7B53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STATUS UPDATE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Retail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Review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customers, and seasonality across 2009-2011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731520" cy="54864"/>
          </a:xfrm>
          <a:prstGeom prst="rect">
            <a:avLst/>
          </a:prstGeom>
          <a:solidFill>
            <a:srgbClr val="F7B53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 |  Capstone Analytics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26680" y="13716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7B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$24.9M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726680" y="2331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analyzed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26680" y="2926080"/>
            <a:ext cx="731520" cy="36576"/>
          </a:xfrm>
          <a:prstGeom prst="rect">
            <a:avLst/>
          </a:prstGeom>
          <a:solidFill>
            <a:srgbClr val="F7B538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32004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charts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726680" y="4160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24 months of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is telling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6974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$24.9M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(Dec 2009 – Dec 2011)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9748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737360"/>
            <a:ext cx="269748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United Kingdom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269748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737360"/>
            <a:ext cx="269748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$1.85M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46520" y="2926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(Nov 2011, holiday lift)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737360"/>
            <a:ext cx="269748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89720" y="1737360"/>
            <a:ext cx="2697480" cy="109728"/>
          </a:xfrm>
          <a:prstGeom prst="rect">
            <a:avLst/>
          </a:prstGeom>
          <a:solidFill>
            <a:srgbClr val="F7B538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7B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30.5%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326880" y="2926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(6+ orders)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holiday seasonality.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more than doubles from quiet months (Feb) to peak months (Nov), with a clear two-year ramp into the autumn buying season.</a:t>
            </a:r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is the home market — by a wide margin.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revenue is concentrated in just a handful of European countries; everything outside the EU is a rounding error today.</a:t>
            </a:r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customers drives a disproportionate share of revenue.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customers alone account for ~$1.4M, and 30%+ are repeat buyers — a signal that retention efforts pay off.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Capstone  •  Status Update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strong holiday peaks, otherwise steady baseline</a:t>
            </a:r>
            <a:endParaRPr lang="en-US" sz="3000" dirty="0"/>
          </a:p>
        </p:txBody>
      </p:sp>
      <p:pic>
        <p:nvPicPr>
          <p:cNvPr id="4" name="Image 0" descr="/sessions/laughing-modest-ritchie/mnt/Charts/chart1_monthly_reven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8638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554480"/>
            <a:ext cx="3017520" cy="4206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0" y="1554480"/>
            <a:ext cx="3017520" cy="109728"/>
          </a:xfrm>
          <a:prstGeom prst="rect">
            <a:avLst/>
          </a:prstGeom>
          <a:solidFill>
            <a:srgbClr val="F7B538"/>
          </a:solidFill>
          <a:ln/>
        </p:spPr>
      </p:sp>
      <p:sp>
        <p:nvSpPr>
          <p:cNvPr id="7" name="Text 4"/>
          <p:cNvSpPr/>
          <p:nvPr/>
        </p:nvSpPr>
        <p:spPr>
          <a:xfrm>
            <a:off x="89154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5400" y="219456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2010: $1.83M
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2011: $1.85M
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lift is consistent year over year and gives us a reliable forecast anchor.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through November is the demand ramp — staff and inventory should be planned around it.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Capstone  •  Status Update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is the business — Europe is the next frontier</a:t>
            </a:r>
            <a:endParaRPr lang="en-US" sz="3000" dirty="0"/>
          </a:p>
        </p:txBody>
      </p:sp>
      <p:pic>
        <p:nvPicPr>
          <p:cNvPr id="4" name="Image 0" descr="/sessions/laughing-modest-ritchie/mnt/Charts/chart2_revenue_by_coun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8638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554480"/>
            <a:ext cx="301752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0" y="1554480"/>
            <a:ext cx="109728" cy="1325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891540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91540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is UK-based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2999232"/>
            <a:ext cx="301752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0" y="2999232"/>
            <a:ext cx="109728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915400" y="3182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915400" y="3776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countries make up the bulk of intl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0" y="4443984"/>
            <a:ext cx="301752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0" y="4443984"/>
            <a:ext cx="109728" cy="13258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400" y="46268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915400" y="52212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for markets outside Europe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Capstone  •  Status Update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sellers by money — and by volume — aren't the same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Revenue</a:t>
            </a:r>
            <a:endParaRPr lang="en-US" sz="1300" dirty="0"/>
          </a:p>
        </p:txBody>
      </p:sp>
      <p:pic>
        <p:nvPicPr>
          <p:cNvPr id="5" name="Image 0" descr="/sessions/laughing-modest-ritchie/mnt/Charts/chart3_top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74520"/>
            <a:ext cx="58521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Units Sold</a:t>
            </a:r>
            <a:endParaRPr lang="en-US" sz="1300" dirty="0"/>
          </a:p>
        </p:txBody>
      </p:sp>
      <p:pic>
        <p:nvPicPr>
          <p:cNvPr id="7" name="Image 1" descr="/sessions/laughing-modest-ritchie/mnt/Charts/chart4_top_uni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874520"/>
            <a:ext cx="5852160" cy="3749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Cakestand is the revenue king ($430K) but the WW2 Gliders move the most units (~110K) — different merchandising plays for each.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Capstone  •  Status Update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buyers carry the business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Mix by Order Frequency</a:t>
            </a:r>
            <a:endParaRPr lang="en-US" sz="1300" dirty="0"/>
          </a:p>
        </p:txBody>
      </p:sp>
      <p:pic>
        <p:nvPicPr>
          <p:cNvPr id="5" name="Image 0" descr="/sessions/laughing-modest-ritchie/mnt/Charts/chart5_customer_seg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74520"/>
            <a:ext cx="56692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Spend</a:t>
            </a:r>
            <a:endParaRPr lang="en-US" sz="1300" dirty="0"/>
          </a:p>
        </p:txBody>
      </p:sp>
      <p:pic>
        <p:nvPicPr>
          <p:cNvPr id="7" name="Image 1" descr="/sessions/laughing-modest-ritchie/mnt/Charts/chart6_top_custom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874520"/>
            <a:ext cx="5760720" cy="3749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+ Occasional buyers are 72% of the base. The top 2 customers alone spend ~$1.4M — a small B2B reseller cohort worth a dedicated account program.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Capstone  •  Status Update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B2B-style buying rhythm: midweek mornings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Day of the Week</a:t>
            </a:r>
            <a:endParaRPr lang="en-US" sz="1300" dirty="0"/>
          </a:p>
        </p:txBody>
      </p:sp>
      <p:pic>
        <p:nvPicPr>
          <p:cNvPr id="5" name="Image 0" descr="/sessions/laughing-modest-ritchie/mnt/Charts/chart7_sales_by_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74520"/>
            <a:ext cx="58521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Hour of Day</a:t>
            </a:r>
            <a:endParaRPr lang="en-US" sz="1300" dirty="0"/>
          </a:p>
        </p:txBody>
      </p:sp>
      <p:pic>
        <p:nvPicPr>
          <p:cNvPr id="7" name="Image 1" descr="/sessions/laughing-modest-ritchie/mnt/Charts/chart8_sales_by_hou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874520"/>
            <a:ext cx="5852160" cy="3749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Tue-Thu drives the week; Saturday is dead. Demand peaks 10am–3pm — staff support, ads, and email sends should be timed accordingly.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Capstone  •  Status Update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•  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plays for the next quarter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035040" cy="4206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/sessions/laughing-modest-ritchie/mnt/Charts/chart9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852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15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heatmap — November is the moment every year.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75120" y="1554480"/>
            <a:ext cx="5120640" cy="1325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828800"/>
            <a:ext cx="777240" cy="777240"/>
          </a:xfrm>
          <a:prstGeom prst="ellipse">
            <a:avLst/>
          </a:prstGeom>
          <a:solidFill>
            <a:srgbClr val="F7B538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818120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down on Q4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818120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dedicated Sept–Nov campaign plan. The lift is reliable; the question is how much we can amplify 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2999232"/>
            <a:ext cx="5120640" cy="1325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0" y="3273552"/>
            <a:ext cx="777240" cy="777240"/>
          </a:xfrm>
          <a:prstGeom prst="ellipse">
            <a:avLst/>
          </a:prstGeom>
          <a:solidFill>
            <a:srgbClr val="F7B538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2735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818120" y="3182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the EU 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818120" y="35935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Ireland, Netherlands, Germany, France, Australia already convert. Localized ads + EU shipping promos can compound.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75120" y="4443984"/>
            <a:ext cx="5120640" cy="1325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0" y="4718304"/>
            <a:ext cx="777240" cy="777240"/>
          </a:xfrm>
          <a:prstGeom prst="ellipse">
            <a:avLst/>
          </a:prstGeom>
          <a:solidFill>
            <a:srgbClr val="F7B538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47183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818120" y="4626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VIP the top 2%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818120" y="503834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named-account program for the top spenders (likely small resellers). Personal outreach + early access to new SKUs.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Capstone  •  Status Update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Capstone Update</dc:title>
  <dc:subject>PptxGenJS Presentation</dc:subject>
  <dc:creator>George</dc:creator>
  <cp:lastModifiedBy>George</cp:lastModifiedBy>
  <cp:revision>1</cp:revision>
  <dcterms:created xsi:type="dcterms:W3CDTF">2026-05-01T21:20:55Z</dcterms:created>
  <dcterms:modified xsi:type="dcterms:W3CDTF">2026-05-01T21:20:55Z</dcterms:modified>
</cp:coreProperties>
</file>